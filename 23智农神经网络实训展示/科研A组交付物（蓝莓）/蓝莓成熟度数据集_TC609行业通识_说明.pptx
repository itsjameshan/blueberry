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oundRect">
            <a:avLst/>
          </a:prstGeom>
          <a:solidFill>
            <a:srgbClr val="FAF9F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2A78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" y="658368"/>
            <a:ext cx="237744" cy="237744"/>
          </a:xfrm>
          <a:prstGeom prst="ellipse">
            <a:avLst/>
          </a:prstGeom>
          <a:solidFill>
            <a:srgbClr val="7C5CD0"/>
          </a:solidFill>
          <a:ln/>
        </p:spPr>
      </p:sp>
      <p:sp>
        <p:nvSpPr>
          <p:cNvPr id="5" name="Text 3"/>
          <p:cNvSpPr/>
          <p:nvPr/>
        </p:nvSpPr>
        <p:spPr>
          <a:xfrm>
            <a:off x="1225296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TC609-5-2025 高质量数据集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25296" y="76809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行业通识数据集 · 评测达标说明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66928" y="3200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为什么它是一个合规的「行业通识数据集」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对照《蓝莓成熟度图像目标检测数据集说明文档》逐节解读 — 含人工修订与 AI 生成两部分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425196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436168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2731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485546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张有效标注图像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425196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55264" y="436168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55264" y="485546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成熟度类别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425196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436168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96.4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943600" y="485546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三维度综合评分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31936" y="425196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31936" y="436168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CC BY-NC-SA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31936" y="485546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开源授权 4.0</a:t>
            </a:r>
            <a:endParaRPr lang="en-US" sz="1100" dirty="0"/>
          </a:p>
        </p:txBody>
      </p:sp>
      <p:pic>
        <p:nvPicPr>
          <p:cNvPr id="21" name="Image 0" descr="/Users/jameshan/Developments/blueberry/tc609_ppt_build/assets/ripeness_b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5440680"/>
            <a:ext cx="11055096" cy="8686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6928" y="5440680"/>
            <a:ext cx="11055096" cy="868680"/>
          </a:xfrm>
          <a:prstGeom prst="roundRect">
            <a:avLst>
              <a:gd name="adj" fmla="val 6316"/>
            </a:avLst>
          </a:prstGeom>
          <a:ln w="12700">
            <a:solidFill>
              <a:srgbClr val="E4E0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" y="5522976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201B3A">
              <a:alpha val="8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552297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真实果园实拍样本 · 未熟→半熟→全熟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0927080" y="603504"/>
            <a:ext cx="164592" cy="164592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26" name="Shape 23"/>
          <p:cNvSpPr/>
          <p:nvPr/>
        </p:nvSpPr>
        <p:spPr>
          <a:xfrm>
            <a:off x="11164824" y="603504"/>
            <a:ext cx="164592" cy="164592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27" name="Shape 24"/>
          <p:cNvSpPr/>
          <p:nvPr/>
        </p:nvSpPr>
        <p:spPr>
          <a:xfrm>
            <a:off x="11402568" y="603504"/>
            <a:ext cx="164592" cy="164592"/>
          </a:xfrm>
          <a:prstGeom prst="ellipse">
            <a:avLst/>
          </a:prstGeom>
          <a:solidFill>
            <a:srgbClr val="4C2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写给不懂数据集的人 · WHAT IS THIS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一句话看懂：这是什么、为什么叫「行业通识」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这份数据集做了什么？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33172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008"/>
              </a:spcAft>
              <a:buSzPct val="100000"/>
              <a:buChar char="•"/>
            </a:pPr>
            <a:r>
              <a:rPr lang="en-US" sz="14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 3000 张真实果园蓝莓照片，清洗成 2731 张可用图像。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008"/>
              </a:spcAft>
              <a:buSzPct val="100000"/>
              <a:buChar char="•"/>
            </a:pPr>
            <a:r>
              <a:rPr lang="en-US" sz="14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在每张照片里，逐颗蓝莓画框，并标上「生 / 半生 / 熟」。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008"/>
              </a:spcAft>
              <a:buSzPct val="100000"/>
              <a:buChar char="•"/>
            </a:pPr>
            <a:r>
              <a:rPr lang="en-US" sz="14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 AI 看一眼照片，就能数出每颗蓝莓熟没熟。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008"/>
              </a:spcAft>
              <a:buSzPct val="100000"/>
              <a:buChar char="•"/>
            </a:pPr>
            <a:r>
              <a:rPr lang="en-US" sz="14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用途：果园机器人采摘、产量分级、成熟度实时识别。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三种数据集，它在「中间那层」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0" y="233172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7F7FA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4231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通识数据集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人人都懂的常识（百科、问答）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424160" y="2752344"/>
            <a:ext cx="516636" cy="274320"/>
          </a:xfrm>
          <a:prstGeom prst="roundRect">
            <a:avLst>
              <a:gd name="adj" fmla="val 50000"/>
            </a:avLst>
          </a:prstGeom>
          <a:solidFill>
            <a:srgbClr val="6E6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0424160" y="2752344"/>
            <a:ext cx="516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普通人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5204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4F2FB"/>
          </a:solidFill>
          <a:ln w="19050">
            <a:solidFill>
              <a:srgbClr val="3B2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6118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行业通识数据集 ← 本数据集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6656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懂行的人都懂的通用知识（跨果园通用的种植/识别常识）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424160" y="3941064"/>
            <a:ext cx="726948" cy="274320"/>
          </a:xfrm>
          <a:prstGeom prst="roundRect">
            <a:avLst>
              <a:gd name="adj" fmla="val 50000"/>
            </a:avLst>
          </a:prstGeom>
          <a:solidFill>
            <a:srgbClr val="3B2A78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0" y="3941064"/>
            <a:ext cx="726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农业从业者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470916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7F7FA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8006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行业专识数据集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66560" y="5120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某机构内部的专属机密（某基地的采收流程）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424160" y="5129784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6E6A82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0" y="5129784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内部专家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57424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依据 TC609-5-2025-03《分类指南》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§三.1.11 · 依据 TC609-5-2025-03 表1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三类数据集横向对比 — 本数据集落在「行业通识」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743200"/>
                <a:gridCol w="3246120"/>
                <a:gridCol w="320954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类型要素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通识数据集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行业通识数据集（本集）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行业专识数据集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知识内容</a:t>
                      </a:r>
                      <a:endParaRPr lang="en-US" sz="11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社会公众常识，无需专业背景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2A78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行业通用知识，需一定专业背景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机构内部专业知识，需深厚经验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来源类型</a:t>
                      </a:r>
                      <a:endParaRPr lang="en-US" sz="11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百科/问答等互联网资源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2A78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论文/报告/标准/公开行业数据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机构内部业务系统、图纸文档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标注人员</a:t>
                      </a:r>
                      <a:endParaRPr lang="en-US" sz="11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普通标注人员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2A78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具学科背景/从业经验人员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行业领域专家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敏感程度</a:t>
                      </a:r>
                      <a:endParaRPr lang="en-US" sz="11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低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2A78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低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高（需授权与权限管理）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主题范围</a:t>
                      </a:r>
                      <a:endParaRPr lang="en-US" sz="11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宽泛，不限行业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2A78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聚焦特定行业，范围中等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聚焦具体业务场景，范围窄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本集判定</a:t>
                      </a:r>
                      <a:endParaRPr lang="en-US" sz="11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—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2A78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✓ 整体符合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04A4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✗ 无机构内部来源/权限</a:t>
                      </a:r>
                      <a:endParaRPr lang="en-US" sz="11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60533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判定方法：先看是否「行业专识」→ 不符合 → 再看是否「行业通识」→ 符合（TC609-5-2025-03 图1 流程）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§一 文档版本 · §二 编制依据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建设依据：四项国家标准 + 配套行业标注规范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017520" cy="4389120"/>
          </a:xfrm>
          <a:prstGeom prst="roundRect">
            <a:avLst>
              <a:gd name="adj" fmla="val 2727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7830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文档版本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V1.0.0-alpha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2743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语义化版本号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（Semantic Versioning）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符合 TC609-5-2025-02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3703320"/>
            <a:ext cx="2377440" cy="0"/>
          </a:xfrm>
          <a:prstGeom prst="line">
            <a:avLst/>
          </a:prstGeom>
          <a:noFill/>
          <a:ln w="12700">
            <a:solidFill>
              <a:srgbClr val="E4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配套内部规范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1605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《蓝莓果实成熟度标注分类规范（初版）》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5029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5CD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「全流程严格遵循 TC609-5-2025 系列四项标准，全程标准化建设。」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572768"/>
            <a:ext cx="382219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96512" y="1828800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3B2A78"/>
          </a:solidFill>
          <a:ln/>
        </p:spPr>
      </p:sp>
      <p:sp>
        <p:nvSpPr>
          <p:cNvPr id="17" name="Text 15"/>
          <p:cNvSpPr/>
          <p:nvPr/>
        </p:nvSpPr>
        <p:spPr>
          <a:xfrm>
            <a:off x="4096512" y="18288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83480" y="1847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TC609-5-2025-01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0848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建设指南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96512" y="271576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全生命周期建设方法：需求→规划→采集→预处理→标注→模型验证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27264" y="1572768"/>
            <a:ext cx="382219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83296" y="1828800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3B2A78"/>
          </a:solidFill>
          <a:ln/>
        </p:spPr>
      </p:sp>
      <p:sp>
        <p:nvSpPr>
          <p:cNvPr id="23" name="Text 21"/>
          <p:cNvSpPr/>
          <p:nvPr/>
        </p:nvSpPr>
        <p:spPr>
          <a:xfrm>
            <a:off x="8083296" y="18288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70264" y="1847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TC609-5-2025-02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70264" y="20848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格式要求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83296" y="271576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基本元数据与表示方法：标识/内容/标注/版本/授权/来源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3840480"/>
            <a:ext cx="382219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96512" y="4096512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3B2A78"/>
          </a:solidFill>
          <a:ln/>
        </p:spPr>
      </p:sp>
      <p:sp>
        <p:nvSpPr>
          <p:cNvPr id="29" name="Text 27"/>
          <p:cNvSpPr/>
          <p:nvPr/>
        </p:nvSpPr>
        <p:spPr>
          <a:xfrm>
            <a:off x="4096512" y="409651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TC609-5-2025-03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35254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分类指南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96512" y="498348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三类划分与类型要素：通识 / 行业通识 / 行业专识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27264" y="3840480"/>
            <a:ext cx="382219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83296" y="4096512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3B2A78"/>
          </a:solidFill>
          <a:ln/>
        </p:spPr>
      </p:sp>
      <p:sp>
        <p:nvSpPr>
          <p:cNvPr id="35" name="Text 33"/>
          <p:cNvSpPr/>
          <p:nvPr/>
        </p:nvSpPr>
        <p:spPr>
          <a:xfrm>
            <a:off x="8083296" y="409651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970264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TC609-5-2025-04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70264" y="435254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质量评测规范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83296" y="498348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三维度评分细则：说明文档·数据质量·模型应用，均需 ≥90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§三 数据集基本信息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基础概况：规模、模态、授权、格式一览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175564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A05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2731</a:t>
            </a:r>
            <a:pPr indent="0" marL="0">
              <a:buNone/>
            </a:pPr>
            <a:r>
              <a:rPr lang="en-US" sz="13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张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68096" y="235915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有效标注图像（原始 3000，剔除 269）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38144" y="1572768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175564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≈131</a:t>
            </a:r>
            <a:pPr indent="0" marL="0">
              <a:buNone/>
            </a:pPr>
            <a:r>
              <a:rPr lang="en-US" sz="13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MB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39312" y="235915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图像 129.4MB + YOLO 标注 1.5MB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572768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175564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5CD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image</a:t>
            </a:r>
            <a:pPr indent="0" marL="0">
              <a:buNone/>
            </a:pPr>
            <a:r>
              <a:rPr lang="en-US" sz="13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模态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10528" y="235915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图像目标检测（media_type）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0576" y="1572768"/>
            <a:ext cx="2724912" cy="1371600"/>
          </a:xfrm>
          <a:prstGeom prst="roundRect">
            <a:avLst>
              <a:gd name="adj" fmla="val 6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81744" y="175564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2A8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</a:t>
            </a:r>
            <a:pPr indent="0" marL="0">
              <a:buNone/>
            </a:pPr>
            <a:r>
              <a:rPr lang="en-US" sz="1300" b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生成标志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381744" y="2359152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实拍真实采集，非 AI 生成数据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154680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337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数据集名称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18688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" y="3749040"/>
            <a:ext cx="10515600" cy="0"/>
          </a:xfrm>
          <a:prstGeom prst="line">
            <a:avLst/>
          </a:prstGeom>
          <a:noFill/>
          <a:ln w="9525">
            <a:solidFill>
              <a:srgbClr val="EC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7719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数据标识 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18688" y="37719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按图片 SHA-256 生成逐条候选标识；数据集级 NDI 标识待主管部门分配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" y="4183380"/>
            <a:ext cx="10515600" cy="0"/>
          </a:xfrm>
          <a:prstGeom prst="line">
            <a:avLst/>
          </a:prstGeom>
          <a:noFill/>
          <a:ln w="9525">
            <a:solidFill>
              <a:srgbClr val="EC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206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存储格式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18688" y="4206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jpg/png 图像 + YOLO txt 标注 + JSON 元数据（UTF-8，符合 TC609-02 附录A）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" y="4617720"/>
            <a:ext cx="10515600" cy="0"/>
          </a:xfrm>
          <a:prstGeom prst="line">
            <a:avLst/>
          </a:prstGeom>
          <a:noFill/>
          <a:ln w="9525">
            <a:solidFill>
              <a:srgbClr val="EC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46405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授权类型 license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18688" y="46405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CC BY-NC-SA 4.0（A 来源 Zenodo CC BY-NC 4.0 + B 来源 Kaggle CC BY-NC-SA 4.0 合并）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" y="5052060"/>
            <a:ext cx="10515600" cy="0"/>
          </a:xfrm>
          <a:prstGeom prst="line">
            <a:avLst/>
          </a:prstGeom>
          <a:noFill/>
          <a:ln w="9525">
            <a:solidFill>
              <a:srgbClr val="ECEA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074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数据用途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18688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果园成熟度识别 · 机器人采摘 · 产量分级 AI 模型的训练/验证/测试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" y="5486400"/>
            <a:ext cx="10515600" cy="0"/>
          </a:xfrm>
          <a:prstGeom prst="line">
            <a:avLst/>
          </a:prstGeom>
          <a:noFill/>
          <a:ln w="9525">
            <a:solidFill>
              <a:srgbClr val="ECEA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55092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类型判定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18688" y="55092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行业通识数据集（农业 / 智慧农业方向）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§三.1.11 · 依据 TC609-5-2025-03 §4.2.2 + 图1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客观判定：七个类型要素，逐条命中「行业通识」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54480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F4F2FB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6733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673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6093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知识内容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075688" y="1600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蓝莓成熟度目标检测，面向农业/智慧农业视觉识别，具基础农业背景即可理解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226564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F7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" y="23454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3454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2814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来源类型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75688" y="22722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A/B 均为公开农业/蓝莓检测数据集，逐条映射可溯源；非机构内部系统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898648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F4F2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" y="30175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2953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时效性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075688" y="2944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 来源发布 2024-10-28，B 来源修改 2024-02-28；相对稳定，时效要求中等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570732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F7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76656" y="36896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36896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36255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标注人员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75688" y="36164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具农业视觉学科背景人员标注，专家已完成复核并出具证明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0488" y="1554480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F4F2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0216" y="16733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1673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39128" y="16093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敏感程度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99248" y="1600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农业图像，无涉密/商业机密/个人隐私；授权已确认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2226564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F7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23454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34" name="Text 32"/>
          <p:cNvSpPr/>
          <p:nvPr/>
        </p:nvSpPr>
        <p:spPr>
          <a:xfrm>
            <a:off x="6300216" y="23454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39128" y="22814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模型类型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699248" y="22722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支撑 YOLOv11/v12 通用/行业目标检测模型，独立测试已完成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0488" y="2898648"/>
            <a:ext cx="5440680" cy="566928"/>
          </a:xfrm>
          <a:prstGeom prst="roundRect">
            <a:avLst>
              <a:gd name="adj" fmla="val 11290"/>
            </a:avLst>
          </a:prstGeom>
          <a:solidFill>
            <a:srgbClr val="F4F2FB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0216" y="30175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39" name="Text 37"/>
          <p:cNvSpPr/>
          <p:nvPr/>
        </p:nvSpPr>
        <p:spPr>
          <a:xfrm>
            <a:off x="6300216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39128" y="2953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主题范围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699248" y="2944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聚焦蓝莓成熟度的农业视觉共性任务，非某机构岗位专属，范围中等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0488" y="358902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240">
            <a:solidFill>
              <a:srgbClr val="E7C9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69874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4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为什么不是「行业专识」？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19088" y="40462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✗ 数据来自公开数据集，非特定机构内部业务系统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✗ 无内部授权 / 权限管理机制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 不满足行业专识核心条件，故判定为行业通识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§四.1 标签体系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三类成熟度标签 — 以蓝紫色着色面积为核心判据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627632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6FA05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76272"/>
            <a:ext cx="3566160" cy="320040"/>
          </a:xfrm>
          <a:prstGeom prst="rect">
            <a:avLst/>
          </a:prstGeom>
          <a:solidFill>
            <a:srgbClr val="6FA052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755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未熟果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2157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UnripeBlueBerry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792224"/>
            <a:ext cx="548640" cy="5486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724912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底色：果皮青白 / 淡青白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b="1" dirty="0">
                <a:solidFill>
                  <a:srgbClr val="6FA05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判据：蓝紫着色 &lt; 10%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果蒂泛红，无大面积蓝皮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1627632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627632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CB7CA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2176272"/>
            <a:ext cx="3566160" cy="320040"/>
          </a:xfrm>
          <a:prstGeom prst="rect">
            <a:avLst/>
          </a:prstGeom>
          <a:solidFill>
            <a:srgbClr val="CB7CA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755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半熟果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2157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Semi-RipeBlueBerry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792224"/>
            <a:ext cx="548640" cy="5486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724912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底色：淡粉 / 浅紫红底色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b="1" dirty="0">
                <a:solidFill>
                  <a:srgbClr val="CB7C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判据：蓝紫着色 10% ~ 70%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转色过渡期果实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28432" y="1627632"/>
            <a:ext cx="35661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28432" y="1627632"/>
            <a:ext cx="3566160" cy="868680"/>
          </a:xfrm>
          <a:prstGeom prst="roundRect">
            <a:avLst>
              <a:gd name="adj" fmla="val 9474"/>
            </a:avLst>
          </a:prstGeom>
          <a:solidFill>
            <a:srgbClr val="4C2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8028432" y="2176272"/>
            <a:ext cx="3566160" cy="320040"/>
          </a:xfrm>
          <a:prstGeom prst="rect">
            <a:avLst/>
          </a:prstGeom>
          <a:solidFill>
            <a:srgbClr val="4C2A8A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1755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全熟果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02752" y="2157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RipeBlueBerry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34472" y="1792224"/>
            <a:ext cx="548640" cy="5486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302752" y="2724912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底色：通体蓝紫，果粉覆盖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b="1" dirty="0">
                <a:solidFill>
                  <a:srgbClr val="4C2A8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判据：蓝紫着色 ≥ 70%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仅果蒂极小淡粉不影响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02920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F4F2FB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138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补充规则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04288" y="513892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腐烂、干瘪、破损坏果不纳入三类标签，不参与模型训练样本 — 保证类别纯净、判据可复现。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§四.2 标注规则 · §四.3 数据分布 · 依据 TC609-04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标注规范与样本分布 — 真实标注证据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657600" cy="4389120"/>
          </a:xfrm>
          <a:prstGeom prst="roundRect">
            <a:avLst>
              <a:gd name="adj" fmla="val 225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755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统一标注规则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212848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单果独立框选：一框一果，粘连/同枝异熟必须分开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框选紧贴果实轮廓，无多余留白、不截断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过滤：尺寸过小 / 背光发黑 / 极度模糊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过滤：叶片枝条遮挡果皮 &gt; 50%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2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人工标注 · 具学科背景/从业经验人员（专项培训）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572768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755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标签实例分布（颗）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未熟果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2331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FA05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25,170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2624328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624328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6FA052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118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半熟果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89320" y="3118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B7C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6,492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3410712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F7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617720" y="3410712"/>
            <a:ext cx="825467" cy="237744"/>
          </a:xfrm>
          <a:prstGeom prst="roundRect">
            <a:avLst>
              <a:gd name="adj" fmla="val 19231"/>
            </a:avLst>
          </a:prstGeom>
          <a:solidFill>
            <a:srgbClr val="CB7CA6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9044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全熟果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89320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C2A8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8,556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4197096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F7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4197096"/>
            <a:ext cx="1087907" cy="237744"/>
          </a:xfrm>
          <a:prstGeom prst="roundRect">
            <a:avLst>
              <a:gd name="adj" fmla="val 19231"/>
            </a:avLst>
          </a:prstGeom>
          <a:solidFill>
            <a:srgbClr val="4C2A8A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4736592"/>
            <a:ext cx="3200400" cy="0"/>
          </a:xfrm>
          <a:prstGeom prst="line">
            <a:avLst/>
          </a:prstGeom>
          <a:noFill/>
          <a:ln w="12700">
            <a:solidFill>
              <a:srgbClr val="EC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比例 2.13 : 1.61 : 6.26（熟:半:未）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划分 8:1:1 训练/验证/测试，分层抽样保证三类均衡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83880" y="1572768"/>
            <a:ext cx="3456432" cy="4389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6676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真实标注 QC 抽样（含逐果框 + 计数）</a:t>
            </a:r>
            <a:endParaRPr lang="en-US" sz="1150" dirty="0"/>
          </a:p>
        </p:txBody>
      </p:sp>
      <p:pic>
        <p:nvPicPr>
          <p:cNvPr id="28" name="Image 0" descr="/Users/jameshan/Developments/blueberry/tc609_ppt_build/assets/anno_eviden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2121408"/>
            <a:ext cx="3108960" cy="36118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8366760" y="2121408"/>
            <a:ext cx="3108960" cy="3611880"/>
          </a:xfrm>
          <a:prstGeom prst="roundRect">
            <a:avLst>
              <a:gd name="adj" fmla="val 1471"/>
            </a:avLst>
          </a:prstGeom>
          <a:ln w="12700">
            <a:solidFill>
              <a:srgbClr val="E4E0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§四.4 局限性说明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客观披露局限性 — 可信度的一部分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6949440" cy="1207008"/>
          </a:xfrm>
          <a:prstGeom prst="roundRect">
            <a:avLst>
              <a:gd name="adj" fmla="val 6061"/>
            </a:avLst>
          </a:prstGeom>
          <a:solidFill>
            <a:srgbClr val="F4F2FB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9385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C0892B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27048" y="1792224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品种覆盖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27048" y="2103120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仅覆盖本项目采集蓝莓品种；其他品种果皮转色特征不同，跨品种直接使用模型精度会下降。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6949440" cy="1207008"/>
          </a:xfrm>
          <a:prstGeom prst="roundRect">
            <a:avLst>
              <a:gd name="adj" fmla="val 6061"/>
            </a:avLst>
          </a:prstGeom>
          <a:solidFill>
            <a:srgbClr val="F7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" y="323697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C08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236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27048" y="3090672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极端场景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27048" y="3401568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极端雨雪、重度逆光、重度叶片遮挡场景样本数量偏少。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949440" cy="1207008"/>
          </a:xfrm>
          <a:prstGeom prst="roundRect">
            <a:avLst>
              <a:gd name="adj" fmla="val 6061"/>
            </a:avLst>
          </a:prstGeom>
          <a:solidFill>
            <a:srgbClr val="F4F2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" y="45354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C08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5354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27048" y="4389120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排除样本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527048" y="4700016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269 张缺标 / 低质量图像未纳入正式数据集；如需完整原始素材需单独申请。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0" y="1627632"/>
            <a:ext cx="3840480" cy="3895344"/>
          </a:xfrm>
          <a:prstGeom prst="roundRect">
            <a:avLst>
              <a:gd name="adj" fmla="val 2143"/>
            </a:avLst>
          </a:prstGeom>
          <a:solidFill>
            <a:srgbClr val="3B2A78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28432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已闭环的部分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28432" y="242316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DE9F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原始采集时间、授权、来源信息
已完整归档、可溯源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DE9F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当前为 TC609 格式化提交包
已完成三维度质量评测
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28432" y="4343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96.4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8028432" y="50292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6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综合评分 · 认定为高质量数据集（行业通识）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§五 建设全流程 · 依据 TC609-5-2025-01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全生命周期建设：采集 → 预处理 → 标注 → 版本控制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9164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69164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3B2A7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240280"/>
            <a:ext cx="2697480" cy="320040"/>
          </a:xfrm>
          <a:prstGeom prst="rect">
            <a:avLst/>
          </a:prstGeom>
          <a:solidFill>
            <a:srgbClr val="3B2A7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83794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E68C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81328" y="192938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数据采集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77063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合规调用开源 API、协议内定向爬取、开源包离线下载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筛合规源→划行业上下游范围→采集清洗→行业人员审核→分类归档溯源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质控：规避过曝/全黑模糊画面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2121408"/>
            <a:ext cx="128016" cy="0"/>
          </a:xfrm>
          <a:prstGeom prst="line">
            <a:avLst/>
          </a:prstGeom>
          <a:noFill/>
          <a:ln w="25400">
            <a:solidFill>
              <a:srgbClr val="7C5CD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10712" y="169164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0712" y="169164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3B2A78"/>
          </a:solidFill>
          <a:ln/>
        </p:spPr>
      </p:sp>
      <p:sp>
        <p:nvSpPr>
          <p:cNvPr id="16" name="Shape 14"/>
          <p:cNvSpPr/>
          <p:nvPr/>
        </p:nvSpPr>
        <p:spPr>
          <a:xfrm>
            <a:off x="3410712" y="2240280"/>
            <a:ext cx="2697480" cy="320040"/>
          </a:xfrm>
          <a:prstGeom prst="rect">
            <a:avLst/>
          </a:prstGeom>
          <a:solidFill>
            <a:srgbClr val="3B2A78"/>
          </a:solidFill>
          <a:ln/>
        </p:spPr>
      </p:sp>
      <p:sp>
        <p:nvSpPr>
          <p:cNvPr id="17" name="Text 15"/>
          <p:cNvSpPr/>
          <p:nvPr/>
        </p:nvSpPr>
        <p:spPr>
          <a:xfrm>
            <a:off x="3639312" y="183794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E68C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325112" y="192938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数据预处理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39312" y="277063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清洗 + 验证 + 抽样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剔除全黑/过曝/无目标/破损；筛除 269 张低质量；核对完整性、无重复、无水印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质控：分层筛选 2731 张，三类均衡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7336" y="2121408"/>
            <a:ext cx="128016" cy="0"/>
          </a:xfrm>
          <a:prstGeom prst="line">
            <a:avLst/>
          </a:prstGeom>
          <a:noFill/>
          <a:ln w="25400">
            <a:solidFill>
              <a:srgbClr val="7C5CD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54496" y="169164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169164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3B2A78"/>
          </a:solidFill>
          <a:ln/>
        </p:spPr>
      </p:sp>
      <p:sp>
        <p:nvSpPr>
          <p:cNvPr id="23" name="Shape 21"/>
          <p:cNvSpPr/>
          <p:nvPr/>
        </p:nvSpPr>
        <p:spPr>
          <a:xfrm>
            <a:off x="6254496" y="2240280"/>
            <a:ext cx="2697480" cy="320040"/>
          </a:xfrm>
          <a:prstGeom prst="rect">
            <a:avLst/>
          </a:prstGeom>
          <a:solidFill>
            <a:srgbClr val="3B2A78"/>
          </a:solidFill>
          <a:ln/>
        </p:spPr>
      </p:sp>
      <p:sp>
        <p:nvSpPr>
          <p:cNvPr id="24" name="Text 22"/>
          <p:cNvSpPr/>
          <p:nvPr/>
        </p:nvSpPr>
        <p:spPr>
          <a:xfrm>
            <a:off x="6483096" y="183794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E68C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168896" y="192938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数据标注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83096" y="277063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统一规范，人工标注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全员学习标注规范统一阈值→全量初标→按 TC609-04 抽检复核→错分/漏标/一框多果返工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质控：生成复核证明文档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61120" y="2121408"/>
            <a:ext cx="128016" cy="0"/>
          </a:xfrm>
          <a:prstGeom prst="line">
            <a:avLst/>
          </a:prstGeom>
          <a:noFill/>
          <a:ln w="25400">
            <a:solidFill>
              <a:srgbClr val="7C5CD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1691640"/>
            <a:ext cx="2697480" cy="36576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98280" y="169164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3B2A78"/>
          </a:solidFill>
          <a:ln/>
        </p:spPr>
      </p:sp>
      <p:sp>
        <p:nvSpPr>
          <p:cNvPr id="30" name="Shape 28"/>
          <p:cNvSpPr/>
          <p:nvPr/>
        </p:nvSpPr>
        <p:spPr>
          <a:xfrm>
            <a:off x="9098280" y="2240280"/>
            <a:ext cx="2697480" cy="320040"/>
          </a:xfrm>
          <a:prstGeom prst="rect">
            <a:avLst/>
          </a:prstGeom>
          <a:solidFill>
            <a:srgbClr val="3B2A78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183794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E68C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0012680" y="192938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0" y="277063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可迭代发布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 v1.0.0-alpha：清洗后 2731 张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36"/>
              </a:spcAft>
              <a:buSzPct val="100000"/>
              <a:buChar char="•"/>
            </a:pPr>
            <a:r>
              <a:rPr lang="en-US" sz="1100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质控：下一版：补元数据、补极端场景、扩品种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 TC609-5-2025-01 全生命周期：数据需求 · 数据规划 · 数据采集 · 数据预处理 · 数据标注 · 模型验证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§六 应用说明 · 依据 TC609-04 模型应用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目标应用场景与模型验证基准（YOLOv11 / v12）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91056"/>
            <a:ext cx="4114800" cy="4343400"/>
          </a:xfrm>
          <a:prstGeom prst="roundRect">
            <a:avLst>
              <a:gd name="adj" fmla="val 2000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目标应用场景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24028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296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果园机器视觉蓝莓成熟度实时检测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296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自动化采摘机器人目标识别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296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蓝莓果品分级、产量预估 AI 系统训练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1296"/>
              </a:spcAft>
              <a:buSzPct val="100000"/>
              <a:buChar char="•"/>
            </a:pPr>
            <a:r>
              <a:rPr lang="en-US" sz="12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农业果蔬目标检测算法科研实验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977640"/>
            <a:ext cx="3566160" cy="0"/>
          </a:xfrm>
          <a:prstGeom prst="line">
            <a:avLst/>
          </a:prstGeom>
          <a:noFill/>
          <a:ln w="12700">
            <a:solidFill>
              <a:srgbClr val="E4E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使用许可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44348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CC BY-NC-SA 4.0 · 非商业研究/教学；再分发需署名并采用相同授权。典型案例：轻量化边缘端模型，田间实时分类计数。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1591056"/>
            <a:ext cx="667512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783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模型验证基准结果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2240280"/>
          <a:ext cx="6126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960120"/>
                <a:gridCol w="868680"/>
                <a:gridCol w="868680"/>
                <a:gridCol w="960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模型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best_epoch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Precision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Recall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mAP50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mAP50-95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YOLOv11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96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0.8215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0.8397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0.8866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1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0.7102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C2A8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YOLOv12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2A8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77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2A8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0.8500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2A8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0.8432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2A8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0.8921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2A8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0.7331</a:t>
                      </a:r>
                      <a:endParaRPr lang="en-US" sz="13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63500" marR="38100" marT="50800" marB="50800"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212080" y="4114800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2A8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YOLOv12 全面更优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12080" y="4498848"/>
            <a:ext cx="6126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864"/>
              </a:spcAft>
              <a:buSzPct val="100000"/>
              <a:buChar char="•"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Recall 漏检控制更优 · Precision 误检更少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864"/>
              </a:spcAft>
              <a:buSzPct val="100000"/>
              <a:buChar char="•"/>
            </a:pPr>
            <a:r>
              <a:rPr lang="en-US" sz="110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mAP50 基础精度、mAP50-95 精细定位全面领先，且收敛更快（77 vs 96 轮）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864"/>
              </a:spcAft>
              <a:buSzPct val="100000"/>
              <a:buChar char="•"/>
            </a:pPr>
            <a:r>
              <a:rPr lang="en-US" sz="1100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已补充：目标性能阈值、软硬件环境、独立测试集结果、漏检/错检失败案例分析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§七 TC609 合规性 · 依据 TC609-5-2025-04 §5.1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三维度质量评测：三项均 ≥ 90，综合 96.4 → 高质量数据集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916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说明文档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331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6FA05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95.0</a:t>
            </a:r>
            <a:endParaRPr lang="en-US" sz="5800" dirty="0"/>
          </a:p>
        </p:txBody>
      </p:sp>
      <p:sp>
        <p:nvSpPr>
          <p:cNvPr id="10" name="Shape 8"/>
          <p:cNvSpPr/>
          <p:nvPr/>
        </p:nvSpPr>
        <p:spPr>
          <a:xfrm>
            <a:off x="841248" y="33832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≥ 90 达标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38130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基本信息·内容特征·建设过程·应用说明 四项完整性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6916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44568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数据质量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44568" y="2331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99.9</a:t>
            </a:r>
            <a:endParaRPr lang="en-US" sz="5800" dirty="0"/>
          </a:p>
        </p:txBody>
      </p:sp>
      <p:sp>
        <p:nvSpPr>
          <p:cNvPr id="16" name="Shape 14"/>
          <p:cNvSpPr/>
          <p:nvPr/>
        </p:nvSpPr>
        <p:spPr>
          <a:xfrm>
            <a:off x="4544568" y="33832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4544568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≥ 90 达标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38130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格式/安全/标注/结构/真实/一致/类型/干净 八项规范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73568" y="16916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47888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模型应用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7888" y="2331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4C2A8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94.2</a:t>
            </a:r>
            <a:endParaRPr lang="en-US" sz="5800" dirty="0"/>
          </a:p>
        </p:txBody>
      </p:sp>
      <p:sp>
        <p:nvSpPr>
          <p:cNvPr id="22" name="Shape 20"/>
          <p:cNvSpPr/>
          <p:nvPr/>
        </p:nvSpPr>
        <p:spPr>
          <a:xfrm>
            <a:off x="8247888" y="33832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8247888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≥ 90 达标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47888" y="381304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多样性·规模·时效·标注准确·模型适配性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11057839" cy="1207008"/>
          </a:xfrm>
          <a:prstGeom prst="roundRect">
            <a:avLst>
              <a:gd name="adj" fmla="val 6818"/>
            </a:avLst>
          </a:prstGeom>
          <a:solidFill>
            <a:srgbClr val="3B2A78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4882896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96.4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3218688" y="4882896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综合评分 · 三项指标均达 90 分阈值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CEF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授权、来源、原始时间、标注复核、独立测试均已确认归档 — 认定为高质量数据集（行业通识）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支撑说明文档 §三/§七 · 依据 TC609-5-2025-02 格式要求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元数据格式合规 — 可被统一接口读取的数据集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91056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910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84248" y="159105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全域唯一标识（SHA-256 候选 / NDI 待分配）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1579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version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84248" y="215798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1.0.0-alpha（语义化版本）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media_type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4248" y="2724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image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291840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license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84248" y="32918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CC BY-NC-SA 4.0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858768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84248" y="385876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 / 公开数据集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87952" y="1591056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325112" y="15910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source_details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05272" y="159105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Zenodo / Kaggle URL·DOI 可溯源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87952" y="2157984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4325112" y="21579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original_time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05272" y="215798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来源发布/修改时间已确认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87952" y="2724912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4325112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last_modified_time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05272" y="2724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加工时间已记录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87952" y="3291840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4325112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generated_data_indicator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05272" y="32918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0（实拍非生成）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87952" y="3858768"/>
            <a:ext cx="3456432" cy="45720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/>
        </p:spPr>
      </p:sp>
      <p:sp>
        <p:nvSpPr>
          <p:cNvPr id="35" name="Text 33"/>
          <p:cNvSpPr/>
          <p:nvPr/>
        </p:nvSpPr>
        <p:spPr>
          <a:xfrm>
            <a:off x="4325112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annotation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05272" y="385876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YOLO 框 + 三类标签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72400" y="1591056"/>
            <a:ext cx="3840480" cy="3986784"/>
          </a:xfrm>
          <a:prstGeom prst="roundRect">
            <a:avLst>
              <a:gd name="adj" fmla="val 2143"/>
            </a:avLst>
          </a:prstGeom>
          <a:solidFill>
            <a:srgbClr val="201B3A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8FE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metadata/dataset_records.jsonl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01000" y="214884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"sha256:3f9a…",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"media_type": "image",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"1.0.0-alpha",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"CC BY-NC-SA 4.0",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"公开数据集",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"generated_data_indicator": 0,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"annotation": { "label": …,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"bbox": [...] }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9C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UTF-8 编码，符合 TC609-02 附录A 格式示例 — 第三方可用统一脚本读取、流通、复用。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建设方式透明披露 · 对应 HUMAN_CONFIRMATION_CHECKLIST / WORK_ASSIGNMENT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人工修订 × AI 生成 — 两部分如何协作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4F2FB"/>
          </a:solidFill>
          <a:ln/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572768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4A6FB5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938528"/>
            <a:ext cx="5486400" cy="274320"/>
          </a:xfrm>
          <a:prstGeom prst="rect">
            <a:avLst/>
          </a:prstGeom>
          <a:solidFill>
            <a:srgbClr val="4A6FB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664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🤖  AI 自动生成（脚本可复现）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42316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标准化打包：tools/build_tc609_submission_package.py 生成交付包与校验和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元数据 JSON + 逐图 SHA-256 候选标识、数据集 schema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A/B 来源逐条自动映射、格式转换为 TC609-02 结构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三维度质量评分计算、可追溯性矩阵、报告草稿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152"/>
              </a:spcAft>
              <a:buSzPct val="100000"/>
              <a:buChar char="•"/>
            </a:pPr>
            <a:r>
              <a:rPr lang="en-US" sz="115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YOLOv11/v12 训练运行与结果归档（evidence/）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7648" y="1572768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6510">
            <a:solidFill>
              <a:srgbClr val="C0892B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1572768"/>
            <a:ext cx="5303520" cy="640080"/>
          </a:xfrm>
          <a:prstGeom prst="roundRect">
            <a:avLst>
              <a:gd name="adj" fmla="val 12857"/>
            </a:avLst>
          </a:prstGeom>
          <a:solidFill>
            <a:srgbClr val="C08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7648" y="1938528"/>
            <a:ext cx="5303520" cy="274320"/>
          </a:xfrm>
          <a:prstGeom prst="rect">
            <a:avLst/>
          </a:prstGeom>
          <a:solidFill>
            <a:srgbClr val="C08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64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✍  人工确认与修订（不可由脚本替代）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24231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1224"/>
              </a:spcAft>
              <a:buSzPct val="100000"/>
              <a:buChar char="•"/>
            </a:pPr>
            <a:r>
              <a:rPr lang="en-US" sz="1150" b="1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  授权适用性 + 141 条中置信来源复查 + 原始时间确认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224"/>
              </a:spcAft>
              <a:buSzPct val="100000"/>
              <a:buChar char="•"/>
            </a:pPr>
            <a:r>
              <a:rPr lang="en-US" sz="1150" b="1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  标注抽检方案 + 农业视觉专家复核 + 复核证明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224"/>
              </a:spcAft>
              <a:buSzPct val="100000"/>
              <a:buChar char="•"/>
            </a:pPr>
            <a:r>
              <a:rPr lang="en-US" sz="1150" b="1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  技术支持方式 + 访问渠道 + 发布边界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224"/>
              </a:spcAft>
              <a:buSzPct val="100000"/>
              <a:buChar char="•"/>
            </a:pPr>
            <a:r>
              <a:rPr lang="en-US" sz="1150" b="1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  模型目标阈值 + 独立测试 + 失败案例分析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224"/>
              </a:spcAft>
              <a:buSzPct val="100000"/>
              <a:buChar char="•"/>
            </a:pPr>
            <a:r>
              <a:rPr lang="en-US" sz="1150" b="1" dirty="0">
                <a:solidFill>
                  <a:srgbClr val="C08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  三维度最终打分 + 申报类型决策「行业通识」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11667"/>
            </a:avLst>
          </a:prstGeom>
          <a:solidFill>
            <a:srgbClr val="F7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关键原则：脚本只能验证格式，不能替人确认授权、标注准确性与申报口径 —— 故两部分缺一不可。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3FA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对应说明文档 §八 附件清单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证据包结构 — 可审计、可溯源、可复现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65408" y="475488"/>
            <a:ext cx="155448" cy="155448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5" name="Shape 3"/>
          <p:cNvSpPr/>
          <p:nvPr/>
        </p:nvSpPr>
        <p:spPr>
          <a:xfrm>
            <a:off x="11480292" y="475488"/>
            <a:ext cx="155448" cy="155448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6" name="Shape 4"/>
          <p:cNvSpPr/>
          <p:nvPr/>
        </p:nvSpPr>
        <p:spPr>
          <a:xfrm>
            <a:off x="11695176" y="475488"/>
            <a:ext cx="155448" cy="155448"/>
          </a:xfrm>
          <a:prstGeom prst="ellipse">
            <a:avLst/>
          </a:prstGeom>
          <a:solidFill>
            <a:srgbClr val="4C2A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2FB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71907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627632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industry_general_dataset/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44368" y="162763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说明文档·类型决策·标注规范·复核记录·分层抽检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66928" y="2286000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7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" y="237744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377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286000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metadata/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44368" y="228600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dataset_records.jsonl·source_attribution·quality_metrics·checksums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66928" y="2944368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2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" y="303580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2944368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docs/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44368" y="294436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质量评测报告·模型验证报告·来源授权报告·可追溯性矩阵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66928" y="3602736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7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76656" y="369417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3694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3602736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data/images/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44368" y="360273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2731 张有效标注图像（train/val/test 8:1:1）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236208" y="162763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2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5936" y="171907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29" name="Text 27"/>
          <p:cNvSpPr/>
          <p:nvPr/>
        </p:nvSpPr>
        <p:spPr>
          <a:xfrm>
            <a:off x="6345936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84848" y="1627632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evidence/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13648" y="162763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训练结果 ZIP·QC 抽样图·日志·报告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236208" y="2286000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7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5936" y="237744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34" name="Text 32"/>
          <p:cNvSpPr/>
          <p:nvPr/>
        </p:nvSpPr>
        <p:spPr>
          <a:xfrm>
            <a:off x="6345936" y="2377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84848" y="2286000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standards_extracts/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613648" y="228600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TC609-01/02/03/04 标准抽取文本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236208" y="2944368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2FB"/>
          </a:solidFill>
          <a:ln/>
        </p:spPr>
      </p:sp>
      <p:sp>
        <p:nvSpPr>
          <p:cNvPr id="38" name="Shape 36"/>
          <p:cNvSpPr/>
          <p:nvPr/>
        </p:nvSpPr>
        <p:spPr>
          <a:xfrm>
            <a:off x="6345936" y="303580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39" name="Text 37"/>
          <p:cNvSpPr/>
          <p:nvPr/>
        </p:nvSpPr>
        <p:spPr>
          <a:xfrm>
            <a:off x="6345936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84848" y="2944368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manual_review/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613648" y="294436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141 条来源复查表·人工派工矩阵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6236208" y="3602736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7F7F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45936" y="369417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B2A78"/>
          </a:solidFill>
          <a:ln/>
        </p:spPr>
      </p:sp>
      <p:sp>
        <p:nvSpPr>
          <p:cNvPr id="44" name="Text 42"/>
          <p:cNvSpPr/>
          <p:nvPr/>
        </p:nvSpPr>
        <p:spPr>
          <a:xfrm>
            <a:off x="6345936" y="3694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▸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84848" y="3602736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tools/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613648" y="360273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421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打包脚本·校验脚本·测试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566928" y="45262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66928" y="46542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5560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566928" y="51480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证据包文件总数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410712" y="45262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410712" y="46542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3410712" y="51480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TC609 标准全套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54496" y="45262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254496" y="46542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SHA-256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254496" y="51480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逐文件校验和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098280" y="452628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93B8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098280" y="46542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A7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96.4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9098280" y="51480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三维度综合评分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66928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核心交付：质量评测报告 / 模型验证报告 / 标注复核证明 / 来源授权报告 / TC609 标准全套 + 训练证据包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蓝莓成熟度图像目标检测数据集  ·  行业通识数据集  ·  V1.0.0-alpha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820095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8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201B3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40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CD0"/>
          </a:solidFill>
          <a:ln/>
        </p:spPr>
      </p:sp>
      <p:sp>
        <p:nvSpPr>
          <p:cNvPr id="4" name="Text 2"/>
          <p:cNvSpPr/>
          <p:nvPr/>
        </p:nvSpPr>
        <p:spPr>
          <a:xfrm>
            <a:off x="1252728" y="6583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8FE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为什么这是一个合规的「行业通识数据集」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E2752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267004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7C5CD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670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72768" y="25054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符合分类定义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72768" y="28895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按 TC609-5-2025-03 图1 流程，七要素整体符合行业通识数据集定义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0488" y="22860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E275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267004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7C5CD0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670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96328" y="25054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三维度评测达标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6328" y="28895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说明文档 95.0 / 数据质量 99.9 / 模型应用 94.2，综合 96.4，均 ≥ 90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E2752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" y="427024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7C5CD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2702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72768" y="4105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非行业专识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72768" y="4489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数据源自公开数据集、非机构内部系统、无内部权限 → 不满足专识核心条件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0488" y="3886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E275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427024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7C5CD0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2702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96328" y="4105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质量要素齐全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96328" y="4489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F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授权·来源·原始时间·标注复核·独立测试全部确认归档，可溯源可复现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AEE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一句话：懂点农业的人都能看懂、能跨果园通用、来源公开可查、且经过国家标准三维度评测达标 —— 所以它是「行业通识数据集」。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881360" y="749808"/>
            <a:ext cx="164592" cy="164592"/>
          </a:xfrm>
          <a:prstGeom prst="ellipse">
            <a:avLst/>
          </a:prstGeom>
          <a:solidFill>
            <a:srgbClr val="6FA05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19104" y="749808"/>
            <a:ext cx="164592" cy="164592"/>
          </a:xfrm>
          <a:prstGeom prst="ellipse">
            <a:avLst/>
          </a:prstGeom>
          <a:solidFill>
            <a:srgbClr val="CB7CA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56848" y="749808"/>
            <a:ext cx="164592" cy="164592"/>
          </a:xfrm>
          <a:prstGeom prst="ellipse">
            <a:avLst/>
          </a:prstGeom>
          <a:solidFill>
            <a:srgbClr val="4C2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2026-06-24T16:22:23Z</dcterms:created>
  <dcterms:modified xsi:type="dcterms:W3CDTF">2026-06-24T16:22:23Z</dcterms:modified>
</cp:coreProperties>
</file>